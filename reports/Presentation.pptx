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Bluestock Mutual Fund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8F7"/>
                </a:solidFill>
                <a:latin typeface="Calibri"/>
              </a:rPr>
              <a:t>Full-Stack Data Pipeline &amp;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Calibri"/>
              </a:rPr>
              <a:t>Capstone Project | Data Engineering &amp;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6A0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&amp;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Indian mutual fund data sourced from AMFI India (amfiindia.com) and mfapi.in APIs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10 raw datasets covering NAV history, AUM, SIP inflows, investor transactions, and scheme details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40+ fund schemes tracked across Large Cap, Mid Cap, Small Cap, ELSS, and Hybrid categories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33,000+ investor transactions analyzed for demographic and geographic insights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Challenge: Fragmented, unstructured data requiring ETL transformation into analytics-ready schema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ETL Pipeline (Python): Extracts raw CSVs, cleanses data, transforms to star schema, loads into SQLite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SQLite Database: Star schema with dimension tables (Date, Fund) + fact tables (NAV, AUM, SIP, Transactions)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Jupyter Notebooks: 3-stage analysis — EDA, Performance Metrics, Advanced Analytics (VaR, Scorecard, Recommender)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Power BI Dashboard: 4 interactive pages with DAX measures, slicers, and drill-through navigation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Streamlit Web App: Alternative frontend with Fund Screener, Monte Carlo Simulation, and Portfolio Optimizer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GitHub: Version-controlled repository with CI-ready pipeline code and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10 raw CSV files loaded via pandas with schema validation and data type enforcement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Missing NAV values handled with forward-fill (ffill) for gaps up to 5 consecutive days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Star schema designed with 2 dimensions (dim_date, dim_fund) and 4 fact tables (fact_nav, fact_aum, fact_sip, fact_transactions)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73,000+ NAV records processed and loaded in 17 seconds end-to-end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Pipeline supports incremental loads and tracks row counts for quality assurance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EDA Highlights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NAV Trends: All 40 schemes show steady growth with 15-25% CAGR over the 5-year analysis period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AUM Growth: SBI Mutual Fund dominates with 6.05 lakh crore AUM, followed by HDFC and ICICI Prudential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Small Cap funds exhibit the highest NAV growth rate but with significantly more volatility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ELSS and Hybrid funds show moderate, stable growth suitable for conservative investors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EDA Highlights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Demographics: The 36-45 age group is the most active investor segment, followed by 26-35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Geographics: Top 3 states by transaction volume — Maharashtra (28%), Gujarat (18%), Karnataka (14%)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Payment Modes: UPI dominates with 62% of all SIP transactions, followed by Net Banking (24%)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Folio growth rate accelerated 2.5x post-2023, indicating strong retail participation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Sharpe Ratios range from 0.67 to 1.21 across the 40 funds, indicating positive risk-adjusted returns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Small Cap funds deliver the highest CAGR (24%) but also the highest annualized volatility (25%)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SBI Bluechip Direct Growth achieves the best overall Fund Scorecard score (89.4/100)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Sortino ratios confirm downside risk is well-managed across Large Cap and Hybrid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Value at Risk (VaR)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Parametric VaR (95% confidence): Ranges from 15% to 28% across fund categories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CVaR (Expected Shortfall): Measures 3-5% higher loss than parametric VaR, capturing tail risk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Historical VaR more conservative for non-normal return distributions in Small Cap funds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Monte Carlo simulation (10,000 paths) confirms stable loss estimates for Large Cap funds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Fund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Top 10 funds ranked by composite score (0-100) using a weighted multi-factor model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Scorecard Weights: Sharpe Ratio (25%), 3Y Returns (25%), Volatility (20%), Expense Ratio (10%), AUM (10%), Max Drawdown (10%)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SBI Bluechip Direct leads with exceptional risk-adjusted returns and low expense ratio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Scorecard enables apples-to-apples comparison across different fund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Cohort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Quarterly retention heatmap shows 68% average investor retention across all cohorts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Q1 2025 cohorts demonstrate 15% higher retention compared to Q4 2024 cohorts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First-time investors exhibit highest retention rates in their first 2 quarters of investment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Systematic investment plans (SIP) show 22% higher retention than lump-sum investors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Fund Recommender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3 Investor Profiles: Conservative (Large Cap, low volatility), Moderate (Balanced Hybrid), Aggressive (Small/Mid Cap)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Conservative Top Pick: SBI Bluechip Direct Growth — Sharpe 1.21, Volatility 14%, CAGR 18%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Moderate Top Pick: HDFC Top 100 Fund — balanced allocation with consistent 16% CAGR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Aggressive Top Pick: Nippon India Small Cap Fund — 24% CAGR with controlled downside via active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Power BI: 4 interactive pages — Industry Overview, Fund Performance, Investor Analytics, SIP Trends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2+ slicers per page enabling dynamic filtering by fund category, date range, investor segment, and geography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DAX measures: CAGR (geometric mean), Sharpe Ratio (risk-free annualized), VaR (parametric &amp; historical)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Streamlit Alternative: Fund Screener (scorecard filters), Monte Carlo Simulator (return paths), Portfolio Optimizer (max Sharpe allocation)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Both frontends connect to the same SQLite star schema for consistent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00" cy="50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Complete end-to-end data pipeline: from raw CSV ingestion to interactive dashboard and predictive models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All core deliverables (EDA, Performance Metrics, Dashboard) and bonus items (VaR, Scorecard, Recommender) implemented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Robust methodology: 252-day annualization, forward-fill for NAV gaps, star schema design, Monte Carlo simulation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Scalable architecture ready for additional data sources, incremental loads, and CI/CD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